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verage"/>
      <p:regular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Average-regular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b814829a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9b814829a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9b814829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9b814829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b814829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9b814829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9b814829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9b814829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9b814829a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9b814829a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9b814829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9b814829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9b814829a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9b814829a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9b814829a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9b814829a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9b814829a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9b814829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9b814829a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9b814829a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9b814829a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9b814829a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9b814829a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9b814829a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9b814829a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9b814829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9b814829a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9b814829a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9b814829a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9b814829a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9b814829a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19b814829a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9b814829a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19b814829a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9b814829a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9b814829a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Design, Simulation, and Analysis of AM and FM Communication Systems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Justin Pulley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(AM)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m(t) = A</a:t>
            </a:r>
            <a:r>
              <a:rPr baseline="-25000" lang="en"/>
              <a:t>m</a:t>
            </a:r>
            <a:r>
              <a:rPr lang="en"/>
              <a:t>sin(w</a:t>
            </a:r>
            <a:r>
              <a:rPr baseline="-25000" lang="en"/>
              <a:t>m</a:t>
            </a:r>
            <a:r>
              <a:rPr lang="en"/>
              <a:t>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A</a:t>
            </a:r>
            <a:r>
              <a:rPr baseline="-25000" i="1" lang="en"/>
              <a:t>m</a:t>
            </a:r>
            <a:r>
              <a:rPr lang="en"/>
              <a:t> Amplitude of Message Signal =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baseline="-25000" lang="en"/>
              <a:t>m</a:t>
            </a:r>
            <a:r>
              <a:rPr lang="en"/>
              <a:t> frequency of message signal = 2𝝅f</a:t>
            </a:r>
            <a:r>
              <a:rPr baseline="-25000" lang="en"/>
              <a:t>m </a:t>
            </a:r>
            <a:r>
              <a:rPr lang="en"/>
              <a:t>rad/s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baseline="-25000" lang="en"/>
              <a:t>m</a:t>
            </a:r>
            <a:r>
              <a:rPr lang="en"/>
              <a:t> frequency of message signal = 10 Hz 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3345" l="10793" r="6623" t="12607"/>
          <a:stretch/>
        </p:blipFill>
        <p:spPr>
          <a:xfrm>
            <a:off x="3247232" y="1152475"/>
            <a:ext cx="562456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(AM)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c(t) = A</a:t>
            </a:r>
            <a:r>
              <a:rPr baseline="-25000" lang="en"/>
              <a:t>c</a:t>
            </a:r>
            <a:r>
              <a:rPr lang="en"/>
              <a:t>sin(w</a:t>
            </a:r>
            <a:r>
              <a:rPr baseline="-25000" lang="en"/>
              <a:t>c</a:t>
            </a:r>
            <a:r>
              <a:rPr lang="en"/>
              <a:t>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A</a:t>
            </a:r>
            <a:r>
              <a:rPr baseline="-25000" i="1" lang="en"/>
              <a:t>c</a:t>
            </a:r>
            <a:r>
              <a:rPr lang="en"/>
              <a:t> Amplitude of Message Signal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baseline="-25000" lang="en"/>
              <a:t>c</a:t>
            </a:r>
            <a:r>
              <a:rPr lang="en"/>
              <a:t> frequency of message signal = 2𝝅f</a:t>
            </a:r>
            <a:r>
              <a:rPr baseline="-25000" lang="en"/>
              <a:t>c</a:t>
            </a:r>
            <a:r>
              <a:rPr baseline="-25000" lang="en"/>
              <a:t> </a:t>
            </a:r>
            <a:r>
              <a:rPr lang="en"/>
              <a:t>rad/s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baseline="-25000" lang="en"/>
              <a:t>c</a:t>
            </a:r>
            <a:r>
              <a:rPr lang="en"/>
              <a:t> frequency of carrier signal = 100 Hz 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3345" l="10793" r="6623" t="12607"/>
          <a:stretch/>
        </p:blipFill>
        <p:spPr>
          <a:xfrm>
            <a:off x="3247232" y="1152475"/>
            <a:ext cx="562456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Modulation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A</a:t>
            </a:r>
            <a:r>
              <a:rPr baseline="-25000" lang="en"/>
              <a:t>c</a:t>
            </a:r>
            <a:r>
              <a:rPr lang="en"/>
              <a:t>*(1+u*m(t))*c(t)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A</a:t>
            </a:r>
            <a:r>
              <a:rPr baseline="-25000" i="1" lang="en"/>
              <a:t>c</a:t>
            </a:r>
            <a:r>
              <a:rPr lang="en"/>
              <a:t> gain of carrier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𝜇</a:t>
            </a:r>
            <a:r>
              <a:rPr lang="en"/>
              <a:t> modulation index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m(t)</a:t>
            </a:r>
            <a:r>
              <a:rPr lang="en"/>
              <a:t> message signal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c(t)</a:t>
            </a:r>
            <a:r>
              <a:rPr lang="en"/>
              <a:t> carrier signal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3794" l="9008" r="7810" t="11703"/>
          <a:stretch/>
        </p:blipFill>
        <p:spPr>
          <a:xfrm>
            <a:off x="3517600" y="982725"/>
            <a:ext cx="5573424" cy="33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Demodulation (Squaring Technique)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</a:t>
            </a:r>
            <a:r>
              <a:rPr lang="en"/>
              <a:t>𝐴</a:t>
            </a:r>
            <a:r>
              <a:rPr baseline="-25000" lang="en"/>
              <a:t>c</a:t>
            </a:r>
            <a:r>
              <a:rPr baseline="30000" lang="en"/>
              <a:t>2</a:t>
            </a:r>
            <a:r>
              <a:rPr lang="en"/>
              <a:t>(1+𝜇𝑚(𝑡))</a:t>
            </a:r>
            <a:r>
              <a:rPr baseline="30000" lang="en"/>
              <a:t>2</a:t>
            </a:r>
            <a:r>
              <a:rPr lang="en"/>
              <a:t> cos</a:t>
            </a:r>
            <a:r>
              <a:rPr baseline="30000" lang="en"/>
              <a:t>2</a:t>
            </a:r>
            <a:r>
              <a:rPr lang="en"/>
              <a:t>(2𝜋𝑓𝑡)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6150"/>
            <a:ext cx="3057375" cy="5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b="4255" l="9906" r="6355" t="10638"/>
          <a:stretch/>
        </p:blipFill>
        <p:spPr>
          <a:xfrm>
            <a:off x="3423125" y="1152475"/>
            <a:ext cx="565535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Noise Analysis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231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Added Additive White Gaussian noise at varying SNRs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higher the SNR, the better the demodulated signal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24618" l="10315" r="6496" t="13527"/>
          <a:stretch/>
        </p:blipFill>
        <p:spPr>
          <a:xfrm>
            <a:off x="2626475" y="1140074"/>
            <a:ext cx="6472352" cy="286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Bandwidth Analysis (B = 20 Hz)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4611" l="9108" r="6080" t="9676"/>
          <a:stretch/>
        </p:blipFill>
        <p:spPr>
          <a:xfrm>
            <a:off x="1285412" y="1017725"/>
            <a:ext cx="6573176" cy="39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of AM Signal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baseline="-25000" lang="en"/>
              <a:t>c</a:t>
            </a:r>
            <a:r>
              <a:rPr lang="en"/>
              <a:t> (power of carrier signal) = A</a:t>
            </a:r>
            <a:r>
              <a:rPr baseline="-25000" lang="en"/>
              <a:t>c</a:t>
            </a:r>
            <a:r>
              <a:rPr baseline="30000" lang="en"/>
              <a:t>2</a:t>
            </a:r>
            <a:r>
              <a:rPr lang="en"/>
              <a:t>/2 = 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baseline="-25000" lang="en"/>
              <a:t>f</a:t>
            </a:r>
            <a:r>
              <a:rPr lang="en"/>
              <a:t> (total power of AM signal) = P</a:t>
            </a:r>
            <a:r>
              <a:rPr baseline="-25000" lang="en"/>
              <a:t>c</a:t>
            </a:r>
            <a:r>
              <a:rPr lang="en"/>
              <a:t>(1+(</a:t>
            </a:r>
            <a:r>
              <a:rPr lang="en"/>
              <a:t>𝜇</a:t>
            </a:r>
            <a:r>
              <a:rPr baseline="30000" lang="en"/>
              <a:t>2</a:t>
            </a:r>
            <a:r>
              <a:rPr lang="en"/>
              <a:t>/2)) = 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Overview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6532" l="9773" r="7396" t="11095"/>
          <a:stretch/>
        </p:blipFill>
        <p:spPr>
          <a:xfrm>
            <a:off x="1099275" y="947875"/>
            <a:ext cx="6945448" cy="410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(FM)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m(t) = A</a:t>
            </a:r>
            <a:r>
              <a:rPr baseline="-25000" lang="en"/>
              <a:t>m</a:t>
            </a:r>
            <a:r>
              <a:rPr lang="en"/>
              <a:t>cos</a:t>
            </a:r>
            <a:r>
              <a:rPr lang="en"/>
              <a:t>(w</a:t>
            </a:r>
            <a:r>
              <a:rPr baseline="-25000" lang="en"/>
              <a:t>m</a:t>
            </a:r>
            <a:r>
              <a:rPr lang="en"/>
              <a:t>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A</a:t>
            </a:r>
            <a:r>
              <a:rPr baseline="-25000" i="1" lang="en"/>
              <a:t>m</a:t>
            </a:r>
            <a:r>
              <a:rPr lang="en"/>
              <a:t> Amplitude of Message Signal =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baseline="-25000" lang="en"/>
              <a:t>m</a:t>
            </a:r>
            <a:r>
              <a:rPr lang="en"/>
              <a:t> frequency of message signal = 2𝝅f</a:t>
            </a:r>
            <a:r>
              <a:rPr baseline="-25000" lang="en"/>
              <a:t>m </a:t>
            </a:r>
            <a:r>
              <a:rPr lang="en"/>
              <a:t>rad/s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baseline="-25000" lang="en"/>
              <a:t>m</a:t>
            </a:r>
            <a:r>
              <a:rPr lang="en"/>
              <a:t> frequency of message signal = 10 Hz 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4486" l="9738" r="6670" t="10058"/>
          <a:stretch/>
        </p:blipFill>
        <p:spPr>
          <a:xfrm>
            <a:off x="3400350" y="1056800"/>
            <a:ext cx="561663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and Carrier Signal (FM)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286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c(t) = A</a:t>
            </a:r>
            <a:r>
              <a:rPr baseline="-25000" lang="en"/>
              <a:t>c</a:t>
            </a:r>
            <a:r>
              <a:rPr lang="en"/>
              <a:t>cos(w</a:t>
            </a:r>
            <a:r>
              <a:rPr baseline="-25000" lang="en"/>
              <a:t>c</a:t>
            </a:r>
            <a:r>
              <a:rPr lang="en"/>
              <a:t>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A</a:t>
            </a:r>
            <a:r>
              <a:rPr baseline="-25000" i="1" lang="en"/>
              <a:t>c</a:t>
            </a:r>
            <a:r>
              <a:rPr lang="en"/>
              <a:t> Amplitude of Message Signal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⍵</a:t>
            </a:r>
            <a:r>
              <a:rPr baseline="-25000" lang="en"/>
              <a:t>c</a:t>
            </a:r>
            <a:r>
              <a:rPr lang="en"/>
              <a:t> frequency of message signal = 2𝝅f</a:t>
            </a:r>
            <a:r>
              <a:rPr baseline="-25000" lang="en"/>
              <a:t>c </a:t>
            </a:r>
            <a:r>
              <a:rPr lang="en"/>
              <a:t>rad/s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</a:t>
            </a:r>
            <a:r>
              <a:rPr baseline="-25000" lang="en"/>
              <a:t>c</a:t>
            </a:r>
            <a:r>
              <a:rPr lang="en"/>
              <a:t> frequency of carrier signal = 100 Hz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4486" l="9738" r="6670" t="10058"/>
          <a:stretch/>
        </p:blipFill>
        <p:spPr>
          <a:xfrm>
            <a:off x="3400350" y="1056800"/>
            <a:ext cx="561663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Modulation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343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</a:t>
            </a:r>
            <a:r>
              <a:rPr lang="en"/>
              <a:t>A</a:t>
            </a:r>
            <a:r>
              <a:rPr baseline="-25000" lang="en"/>
              <a:t>c</a:t>
            </a:r>
            <a:r>
              <a:rPr lang="en"/>
              <a:t>cos(w</a:t>
            </a:r>
            <a:r>
              <a:rPr baseline="-25000" lang="en"/>
              <a:t>c</a:t>
            </a:r>
            <a:r>
              <a:rPr lang="en"/>
              <a:t>t + (k</a:t>
            </a:r>
            <a:r>
              <a:rPr baseline="-25000" lang="en"/>
              <a:t>f</a:t>
            </a:r>
            <a:r>
              <a:rPr lang="en"/>
              <a:t> </a:t>
            </a:r>
            <a:r>
              <a:rPr baseline="-25000" lang="en"/>
              <a:t>0</a:t>
            </a:r>
            <a:r>
              <a:rPr lang="en"/>
              <a:t>∫</a:t>
            </a:r>
            <a:r>
              <a:rPr baseline="30000" lang="en"/>
              <a:t>t</a:t>
            </a:r>
            <a:r>
              <a:rPr lang="en"/>
              <a:t>(m(τ)*dτ))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A</a:t>
            </a:r>
            <a:r>
              <a:rPr baseline="-25000" i="1" lang="en"/>
              <a:t>c</a:t>
            </a:r>
            <a:r>
              <a:rPr lang="en"/>
              <a:t> (gain of carrier) 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k</a:t>
            </a:r>
            <a:r>
              <a:rPr baseline="-25000" i="1" lang="en"/>
              <a:t>f</a:t>
            </a:r>
            <a:r>
              <a:rPr baseline="-25000" lang="en"/>
              <a:t> </a:t>
            </a:r>
            <a:r>
              <a:rPr lang="en"/>
              <a:t>= </a:t>
            </a:r>
            <a:r>
              <a:rPr lang="en"/>
              <a:t>2𝝅 x 30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m(t)</a:t>
            </a:r>
            <a:r>
              <a:rPr lang="en"/>
              <a:t> message signal</a:t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b="4770" l="10043" r="6947" t="10648"/>
          <a:stretch/>
        </p:blipFill>
        <p:spPr>
          <a:xfrm>
            <a:off x="3509775" y="944050"/>
            <a:ext cx="5534102" cy="33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Demodulation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31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Demodulates the FM waveform by modulating the Hilbert transform of the signal by a complex exponential of frequency -fc Hz and obtains the instantaneous frequency of the result.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 rotWithShape="1">
          <a:blip r:embed="rId3">
            <a:alphaModFix/>
          </a:blip>
          <a:srcRect b="3501" l="9161" r="6938" t="10454"/>
          <a:stretch/>
        </p:blipFill>
        <p:spPr>
          <a:xfrm>
            <a:off x="3424882" y="863550"/>
            <a:ext cx="561554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Noise Analysis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216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Added Additive White Gaussian noise at varying SNRs.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higher the SNR, the better the demodulated signal.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24165" l="10732" r="7714" t="10488"/>
          <a:stretch/>
        </p:blipFill>
        <p:spPr>
          <a:xfrm>
            <a:off x="2477950" y="1001163"/>
            <a:ext cx="6581802" cy="31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Bandwidth Analysis (B = 200 Hz)</a:t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 rotWithShape="1">
          <a:blip r:embed="rId3">
            <a:alphaModFix/>
          </a:blip>
          <a:srcRect b="4398" l="9558" r="7108" t="10697"/>
          <a:stretch/>
        </p:blipFill>
        <p:spPr>
          <a:xfrm>
            <a:off x="1402512" y="1017725"/>
            <a:ext cx="6338976" cy="383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of FM Signal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does not affect the power of a signal, so the FM signal has the same power as the message signal.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 = A</a:t>
            </a:r>
            <a:r>
              <a:rPr baseline="-25000" lang="en"/>
              <a:t>c</a:t>
            </a:r>
            <a:r>
              <a:rPr baseline="30000" lang="en"/>
              <a:t>2</a:t>
            </a:r>
            <a:r>
              <a:rPr lang="en"/>
              <a:t>/2 = 2 watts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 Overview</a:t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 rotWithShape="1">
          <a:blip r:embed="rId3">
            <a:alphaModFix/>
          </a:blip>
          <a:srcRect b="4800" l="10289" r="7066" t="9325"/>
          <a:stretch/>
        </p:blipFill>
        <p:spPr>
          <a:xfrm>
            <a:off x="1339087" y="995400"/>
            <a:ext cx="6465825" cy="39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vs. FM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FM signals use more bandwidth than AM signals.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Typically, FM signals are more resistant, but the results from my experiment shows that AM signals are more </a:t>
            </a:r>
            <a:r>
              <a:rPr lang="en"/>
              <a:t>resistant.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