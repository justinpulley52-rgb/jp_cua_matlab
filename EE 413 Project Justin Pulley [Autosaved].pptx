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Average" panose="020B0604020202020204" charset="0"/>
      <p:regular r:id="rId22"/>
    </p:embeddedFont>
    <p:embeddedFont>
      <p:font typeface="Oswald" panose="00000500000000000000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32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9b814829a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9b814829a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9b814829a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9b814829a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b814829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9b814829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9b814829a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9b814829a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9b814829a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9b814829a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9b814829a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9b814829a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9b814829a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9b814829a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9b814829a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9b814829a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9b814829a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9b814829a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9b814829a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9b814829a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9b814829a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9b814829a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9b814829a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9b814829a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9b814829a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9b814829a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9b814829a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9b814829a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9b814829a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9b814829a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9b814829a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19b814829a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9b814829a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19b814829a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9b814829a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9b814829a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Design, Simulation, and Analysis of AM and FM Communication Systems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Justin Pulley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(AM)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m(t) = A</a:t>
            </a:r>
            <a:r>
              <a:rPr lang="en" baseline="-25000"/>
              <a:t>m</a:t>
            </a:r>
            <a:r>
              <a:rPr lang="en"/>
              <a:t>sin(w</a:t>
            </a:r>
            <a:r>
              <a:rPr lang="en" baseline="-25000"/>
              <a:t>m</a:t>
            </a:r>
            <a:r>
              <a:rPr lang="en"/>
              <a:t>t)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i="1"/>
              <a:t>A</a:t>
            </a:r>
            <a:r>
              <a:rPr lang="en" i="1" baseline="-25000"/>
              <a:t>m</a:t>
            </a:r>
            <a:r>
              <a:rPr lang="en"/>
              <a:t> Amplitude of Message Signal = 2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lang="en" baseline="-25000"/>
              <a:t>m</a:t>
            </a:r>
            <a:r>
              <a:rPr lang="en"/>
              <a:t> frequency of message signal = 2𝝅f</a:t>
            </a:r>
            <a:r>
              <a:rPr lang="en" baseline="-25000"/>
              <a:t>m </a:t>
            </a:r>
            <a:r>
              <a:rPr lang="en"/>
              <a:t>rad/s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lang="en" baseline="-25000"/>
              <a:t>m</a:t>
            </a:r>
            <a:r>
              <a:rPr lang="en"/>
              <a:t> frequency of message signal = 10 Hz 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10793" t="12607" r="6623" b="3345"/>
          <a:stretch/>
        </p:blipFill>
        <p:spPr>
          <a:xfrm>
            <a:off x="3247232" y="1152475"/>
            <a:ext cx="562456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(AM)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c(t) = A</a:t>
            </a:r>
            <a:r>
              <a:rPr lang="en" baseline="-25000"/>
              <a:t>c</a:t>
            </a:r>
            <a:r>
              <a:rPr lang="en"/>
              <a:t>sin(w</a:t>
            </a:r>
            <a:r>
              <a:rPr lang="en" baseline="-25000"/>
              <a:t>c</a:t>
            </a:r>
            <a:r>
              <a:rPr lang="en"/>
              <a:t>t)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i="1"/>
              <a:t>A</a:t>
            </a:r>
            <a:r>
              <a:rPr lang="en" i="1" baseline="-25000"/>
              <a:t>c</a:t>
            </a:r>
            <a:r>
              <a:rPr lang="en"/>
              <a:t> Amplitude of Message Signal = 1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lang="en" baseline="-25000"/>
              <a:t>c</a:t>
            </a:r>
            <a:r>
              <a:rPr lang="en"/>
              <a:t> frequency of message signal = 2𝝅f</a:t>
            </a:r>
            <a:r>
              <a:rPr lang="en" baseline="-25000"/>
              <a:t>c </a:t>
            </a:r>
            <a:r>
              <a:rPr lang="en"/>
              <a:t>rad/s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lang="en" baseline="-25000"/>
              <a:t>c</a:t>
            </a:r>
            <a:r>
              <a:rPr lang="en"/>
              <a:t> frequency of carrier signal = 100 Hz 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l="10793" t="12607" r="6623" b="3345"/>
          <a:stretch/>
        </p:blipFill>
        <p:spPr>
          <a:xfrm>
            <a:off x="3247232" y="1152475"/>
            <a:ext cx="562456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Modulation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= A</a:t>
            </a:r>
            <a:r>
              <a:rPr lang="en" baseline="-25000" dirty="0"/>
              <a:t>c</a:t>
            </a:r>
            <a:r>
              <a:rPr lang="en" dirty="0"/>
              <a:t>*(1+ 𝜇*m(t))*c(t)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i="1" dirty="0"/>
              <a:t>A</a:t>
            </a:r>
            <a:r>
              <a:rPr lang="en" i="1" baseline="-25000" dirty="0"/>
              <a:t>c</a:t>
            </a:r>
            <a:r>
              <a:rPr lang="en" dirty="0"/>
              <a:t> gain of carrier = 1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𝜇 modulation index = 1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i="1" dirty="0"/>
              <a:t>m(t)</a:t>
            </a:r>
            <a:r>
              <a:rPr lang="en" dirty="0"/>
              <a:t> message signal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i="1" dirty="0"/>
              <a:t>c(t)</a:t>
            </a:r>
            <a:r>
              <a:rPr lang="en" dirty="0"/>
              <a:t> carrier signal</a:t>
            </a:r>
            <a:endParaRPr dirty="0"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l="9008" t="11703" r="7810" b="3794"/>
          <a:stretch/>
        </p:blipFill>
        <p:spPr>
          <a:xfrm>
            <a:off x="3517600" y="982725"/>
            <a:ext cx="5573424" cy="33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Demodulation (Squaring Technique)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𝐴</a:t>
            </a:r>
            <a:r>
              <a:rPr lang="en" baseline="-25000"/>
              <a:t>c</a:t>
            </a:r>
            <a:r>
              <a:rPr lang="en" baseline="30000"/>
              <a:t>2</a:t>
            </a:r>
            <a:r>
              <a:rPr lang="en"/>
              <a:t>(1+𝜇𝑚(𝑡))</a:t>
            </a:r>
            <a:r>
              <a:rPr lang="en" baseline="30000"/>
              <a:t>2</a:t>
            </a:r>
            <a:r>
              <a:rPr lang="en"/>
              <a:t> cos</a:t>
            </a:r>
            <a:r>
              <a:rPr lang="en" baseline="30000"/>
              <a:t>2</a:t>
            </a:r>
            <a:r>
              <a:rPr lang="en"/>
              <a:t>(2𝜋𝑓𝑡)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6150"/>
            <a:ext cx="3057375" cy="5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l="9906" t="10638" r="6355" b="4255"/>
          <a:stretch/>
        </p:blipFill>
        <p:spPr>
          <a:xfrm>
            <a:off x="3423125" y="1152475"/>
            <a:ext cx="565535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Noise Analysis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314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Added Additive White Gaussian noise at varying SNRs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higher the SNR, the better the demodulated signal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10315" t="13527" r="6496" b="24618"/>
          <a:stretch/>
        </p:blipFill>
        <p:spPr>
          <a:xfrm>
            <a:off x="2626475" y="1140074"/>
            <a:ext cx="6472352" cy="286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Bandwidth Analysis (B = 20 Hz)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l="9108" t="9676" r="6080" b="4611"/>
          <a:stretch/>
        </p:blipFill>
        <p:spPr>
          <a:xfrm>
            <a:off x="1285412" y="1017725"/>
            <a:ext cx="6573176" cy="39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of AM Signal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 baseline="-25000"/>
              <a:t>c</a:t>
            </a:r>
            <a:r>
              <a:rPr lang="en"/>
              <a:t> (power of carrier signal) = A</a:t>
            </a:r>
            <a:r>
              <a:rPr lang="en" baseline="-25000"/>
              <a:t>c</a:t>
            </a:r>
            <a:r>
              <a:rPr lang="en" baseline="30000"/>
              <a:t>2</a:t>
            </a:r>
            <a:r>
              <a:rPr lang="en"/>
              <a:t>/2 = 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 baseline="-25000"/>
              <a:t>f</a:t>
            </a:r>
            <a:r>
              <a:rPr lang="en"/>
              <a:t> (total power of AM signal) = P</a:t>
            </a:r>
            <a:r>
              <a:rPr lang="en" baseline="-25000"/>
              <a:t>c</a:t>
            </a:r>
            <a:r>
              <a:rPr lang="en"/>
              <a:t>(1+(𝜇</a:t>
            </a:r>
            <a:r>
              <a:rPr lang="en" baseline="30000"/>
              <a:t>2</a:t>
            </a:r>
            <a:r>
              <a:rPr lang="en"/>
              <a:t>/2)) = ¾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Overview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l="9773" t="11095" r="7396" b="6532"/>
          <a:stretch/>
        </p:blipFill>
        <p:spPr>
          <a:xfrm>
            <a:off x="1099275" y="947875"/>
            <a:ext cx="6945448" cy="410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(FM)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m(t) = A</a:t>
            </a:r>
            <a:r>
              <a:rPr lang="en" baseline="-25000"/>
              <a:t>m</a:t>
            </a:r>
            <a:r>
              <a:rPr lang="en"/>
              <a:t>cos(w</a:t>
            </a:r>
            <a:r>
              <a:rPr lang="en" baseline="-25000"/>
              <a:t>m</a:t>
            </a:r>
            <a:r>
              <a:rPr lang="en"/>
              <a:t>t)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i="1"/>
              <a:t>A</a:t>
            </a:r>
            <a:r>
              <a:rPr lang="en" i="1" baseline="-25000"/>
              <a:t>m</a:t>
            </a:r>
            <a:r>
              <a:rPr lang="en"/>
              <a:t> Amplitude of Message Signal = 2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lang="en" baseline="-25000"/>
              <a:t>m</a:t>
            </a:r>
            <a:r>
              <a:rPr lang="en"/>
              <a:t> frequency of message signal = 2𝝅f</a:t>
            </a:r>
            <a:r>
              <a:rPr lang="en" baseline="-25000"/>
              <a:t>m </a:t>
            </a:r>
            <a:r>
              <a:rPr lang="en"/>
              <a:t>rad/s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lang="en" baseline="-25000"/>
              <a:t>m</a:t>
            </a:r>
            <a:r>
              <a:rPr lang="en"/>
              <a:t> frequency of message signal = 10 Hz 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l="9738" t="10058" r="6670" b="4486"/>
          <a:stretch/>
        </p:blipFill>
        <p:spPr>
          <a:xfrm>
            <a:off x="3400350" y="1056800"/>
            <a:ext cx="561663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(FM)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c(t) = A</a:t>
            </a:r>
            <a:r>
              <a:rPr lang="en" baseline="-25000"/>
              <a:t>c</a:t>
            </a:r>
            <a:r>
              <a:rPr lang="en"/>
              <a:t>cos(w</a:t>
            </a:r>
            <a:r>
              <a:rPr lang="en" baseline="-25000"/>
              <a:t>c</a:t>
            </a:r>
            <a:r>
              <a:rPr lang="en"/>
              <a:t>t)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i="1"/>
              <a:t>A</a:t>
            </a:r>
            <a:r>
              <a:rPr lang="en" i="1" baseline="-25000"/>
              <a:t>c</a:t>
            </a:r>
            <a:r>
              <a:rPr lang="en"/>
              <a:t> Amplitude of Message Signal = 1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lang="en" baseline="-25000"/>
              <a:t>c</a:t>
            </a:r>
            <a:r>
              <a:rPr lang="en"/>
              <a:t> frequency of message signal = 2𝝅f</a:t>
            </a:r>
            <a:r>
              <a:rPr lang="en" baseline="-25000"/>
              <a:t>c </a:t>
            </a:r>
            <a:r>
              <a:rPr lang="en"/>
              <a:t>rad/s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lang="en" baseline="-25000"/>
              <a:t>c</a:t>
            </a:r>
            <a:r>
              <a:rPr lang="en"/>
              <a:t> frequency of carrier signal = 100 Hz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l="9738" t="10058" r="6670" b="4486"/>
          <a:stretch/>
        </p:blipFill>
        <p:spPr>
          <a:xfrm>
            <a:off x="3400350" y="1056800"/>
            <a:ext cx="561663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Modulation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32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A</a:t>
            </a:r>
            <a:r>
              <a:rPr lang="en" baseline="-25000"/>
              <a:t>c</a:t>
            </a:r>
            <a:r>
              <a:rPr lang="en"/>
              <a:t>cos(w</a:t>
            </a:r>
            <a:r>
              <a:rPr lang="en" baseline="-25000"/>
              <a:t>c</a:t>
            </a:r>
            <a:r>
              <a:rPr lang="en"/>
              <a:t>t + (k</a:t>
            </a:r>
            <a:r>
              <a:rPr lang="en" baseline="-25000"/>
              <a:t>f</a:t>
            </a:r>
            <a:r>
              <a:rPr lang="en"/>
              <a:t> </a:t>
            </a:r>
            <a:r>
              <a:rPr lang="en" baseline="-25000"/>
              <a:t>0</a:t>
            </a:r>
            <a:r>
              <a:rPr lang="en"/>
              <a:t>∫</a:t>
            </a:r>
            <a:r>
              <a:rPr lang="en" baseline="30000"/>
              <a:t>t</a:t>
            </a:r>
            <a:r>
              <a:rPr lang="en"/>
              <a:t>(m(τ)*dτ))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i="1"/>
              <a:t>A</a:t>
            </a:r>
            <a:r>
              <a:rPr lang="en" i="1" baseline="-25000"/>
              <a:t>c</a:t>
            </a:r>
            <a:r>
              <a:rPr lang="en"/>
              <a:t> (gain of carrier) = 1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i="1"/>
              <a:t>k</a:t>
            </a:r>
            <a:r>
              <a:rPr lang="en" i="1" baseline="-25000"/>
              <a:t>f</a:t>
            </a:r>
            <a:r>
              <a:rPr lang="en" baseline="-25000"/>
              <a:t> </a:t>
            </a:r>
            <a:r>
              <a:rPr lang="en"/>
              <a:t>= 2𝝅 x 30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i="1"/>
              <a:t>m(t)</a:t>
            </a:r>
            <a:r>
              <a:rPr lang="en"/>
              <a:t> message signal</a:t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 l="10043" t="10648" r="6947" b="4770"/>
          <a:stretch/>
        </p:blipFill>
        <p:spPr>
          <a:xfrm>
            <a:off x="3509775" y="944050"/>
            <a:ext cx="5534102" cy="335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Demodulation</a:t>
            </a:r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19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Demodulates the FM waveform by modulating the Hilbert transform of the signal by a complex exponential of frequency -fc Hz and obtains the instantaneous frequency of the result.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 rotWithShape="1">
          <a:blip r:embed="rId3">
            <a:alphaModFix/>
          </a:blip>
          <a:srcRect l="9161" t="10454" r="6938" b="3501"/>
          <a:stretch/>
        </p:blipFill>
        <p:spPr>
          <a:xfrm>
            <a:off x="3424882" y="863550"/>
            <a:ext cx="561554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Noise Analysis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166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Added Additive White Gaussian noise at varying SNRs.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higher the SNR, the better the demodulated signal.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l="10732" t="10488" r="7714" b="24165"/>
          <a:stretch/>
        </p:blipFill>
        <p:spPr>
          <a:xfrm>
            <a:off x="2477950" y="1001163"/>
            <a:ext cx="6581802" cy="31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Bandwidth Analysis (B = 200 Hz)</a:t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 rotWithShape="1">
          <a:blip r:embed="rId3">
            <a:alphaModFix/>
          </a:blip>
          <a:srcRect l="9558" t="10697" r="7108" b="4398"/>
          <a:stretch/>
        </p:blipFill>
        <p:spPr>
          <a:xfrm>
            <a:off x="1402512" y="1017725"/>
            <a:ext cx="6338976" cy="383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of FM Signal</a:t>
            </a:r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does not affect the power of a signal, so the FM signal has the same power as the message signal.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 = A</a:t>
            </a:r>
            <a:r>
              <a:rPr lang="en" baseline="-25000"/>
              <a:t>c</a:t>
            </a:r>
            <a:r>
              <a:rPr lang="en" baseline="30000"/>
              <a:t>2</a:t>
            </a:r>
            <a:r>
              <a:rPr lang="en"/>
              <a:t>/2 = 2 watts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Overview</a:t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 rotWithShape="1">
          <a:blip r:embed="rId3">
            <a:alphaModFix/>
          </a:blip>
          <a:srcRect l="10289" t="9325" r="7066" b="4800"/>
          <a:stretch/>
        </p:blipFill>
        <p:spPr>
          <a:xfrm>
            <a:off x="1339087" y="995400"/>
            <a:ext cx="6465825" cy="39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vs. FM</a:t>
            </a:r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FM signals use more bandwidth than AM signals.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Typically, FM signals are more resistant, but the results from my experiment shows that AM signals are more resistant.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490</Words>
  <Application>Microsoft Office PowerPoint</Application>
  <PresentationFormat>On-screen Show (16:9)</PresentationFormat>
  <Paragraphs>57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Average</vt:lpstr>
      <vt:lpstr>Oswald</vt:lpstr>
      <vt:lpstr>Slate</vt:lpstr>
      <vt:lpstr>Design, Simulation, and Analysis of AM and FM Communication Systems</vt:lpstr>
      <vt:lpstr>Message and Carrier Signal (AM) </vt:lpstr>
      <vt:lpstr>Message and Carrier Signal (AM) </vt:lpstr>
      <vt:lpstr>AM Modulation</vt:lpstr>
      <vt:lpstr>AM Demodulation (Squaring Technique)</vt:lpstr>
      <vt:lpstr>AM Noise Analysis</vt:lpstr>
      <vt:lpstr>AM Bandwidth Analysis (B = 20 Hz)</vt:lpstr>
      <vt:lpstr>Power of AM Signal</vt:lpstr>
      <vt:lpstr>AM Overview</vt:lpstr>
      <vt:lpstr>Message and Carrier Signal (FM) </vt:lpstr>
      <vt:lpstr>Message and Carrier Signal (FM) </vt:lpstr>
      <vt:lpstr>FM Modulation</vt:lpstr>
      <vt:lpstr>FM Demodulation</vt:lpstr>
      <vt:lpstr>FM Noise Analysis</vt:lpstr>
      <vt:lpstr>FM Bandwidth Analysis (B = 200 Hz)</vt:lpstr>
      <vt:lpstr>Power of FM Signal</vt:lpstr>
      <vt:lpstr>FM Overview</vt:lpstr>
      <vt:lpstr>AM vs. FM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Justin Pulley</dc:creator>
  <cp:lastModifiedBy>Justin Pulley</cp:lastModifiedBy>
  <cp:revision>2</cp:revision>
  <dcterms:modified xsi:type="dcterms:W3CDTF">2024-12-10T21:42:22Z</dcterms:modified>
</cp:coreProperties>
</file>